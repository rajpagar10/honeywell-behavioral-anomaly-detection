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d7dae1afc5e45de" /><Relationship Type="http://schemas.openxmlformats.org/officeDocument/2006/relationships/extended-properties" Target="/docProps/app.xml" Id="Re498b624bb79491d" /><Relationship Type="http://schemas.openxmlformats.org/officeDocument/2006/relationships/officeDocument" Target="/ppt/presentation.xml" Id="R93b3e2e0aabf44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074c7adebb4bd3"/>
  </p:sldMasterIdLst>
  <p:notesMasterIdLst>
    <p:notesMasterId xmlns:r="http://schemas.openxmlformats.org/officeDocument/2006/relationships" r:id="R17f800f788cf436e"/>
  </p:notesMasterIdLst>
  <p:sldIdLst>
    <p:sldId xmlns:r="http://schemas.openxmlformats.org/officeDocument/2006/relationships" id="256" r:id="Rb023a60d0dd8452e"/>
    <p:sldId xmlns:r="http://schemas.openxmlformats.org/officeDocument/2006/relationships" id="257" r:id="Raad3b7aa8c704cc4"/>
    <p:sldId xmlns:r="http://schemas.openxmlformats.org/officeDocument/2006/relationships" id="258" r:id="R251e717af7234a27"/>
    <p:sldId xmlns:r="http://schemas.openxmlformats.org/officeDocument/2006/relationships" id="259" r:id="R047aec9397914d37"/>
    <p:sldId xmlns:r="http://schemas.openxmlformats.org/officeDocument/2006/relationships" id="260" r:id="Rb97e937eb6b94744"/>
    <p:sldId xmlns:r="http://schemas.openxmlformats.org/officeDocument/2006/relationships" id="261" r:id="Ra27767fe8dd2402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9554d80ab3c464a" /><Relationship Type="http://schemas.openxmlformats.org/officeDocument/2006/relationships/slideMaster" Target="/ppt/slideMasters/slideMaster1.xml" Id="R23074c7adebb4bd3" /><Relationship Type="http://schemas.openxmlformats.org/officeDocument/2006/relationships/notesMaster" Target="/ppt/notesMasters/notesMaster1.xml" Id="R17f800f788cf436e" /><Relationship Type="http://schemas.openxmlformats.org/officeDocument/2006/relationships/presProps" Target="/ppt/presProps.xml" Id="Rd106e7be18ef41d7" /><Relationship Type="http://schemas.openxmlformats.org/officeDocument/2006/relationships/viewProps" Target="/ppt/viewProps.xml" Id="Re83f78bf4f5a4e86" /><Relationship Type="http://schemas.openxmlformats.org/officeDocument/2006/relationships/tableStyles" Target="/ppt/tableStyles.xml" Id="R5c254c5fbb4f4e65" /><Relationship Type="http://schemas.openxmlformats.org/officeDocument/2006/relationships/slide" Target="/ppt/slides/slide1.xml" Id="Rb023a60d0dd8452e" /><Relationship Type="http://schemas.openxmlformats.org/officeDocument/2006/relationships/slide" Target="/ppt/slides/slide2.xml" Id="Raad3b7aa8c704cc4" /><Relationship Type="http://schemas.openxmlformats.org/officeDocument/2006/relationships/slide" Target="/ppt/slides/slide3.xml" Id="R251e717af7234a27" /><Relationship Type="http://schemas.openxmlformats.org/officeDocument/2006/relationships/slide" Target="/ppt/slides/slide4.xml" Id="R047aec9397914d37" /><Relationship Type="http://schemas.openxmlformats.org/officeDocument/2006/relationships/slide" Target="/ppt/slides/slide5.xml" Id="Rb97e937eb6b94744" /><Relationship Type="http://schemas.openxmlformats.org/officeDocument/2006/relationships/slide" Target="/ppt/slides/slide6.xml" Id="Ra27767fe8dd2402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03fea302f8345e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aa6d4ee9ffd4646" /><Relationship Type="http://schemas.openxmlformats.org/officeDocument/2006/relationships/notesMaster" Target="/ppt/notesMasters/notesMaster1.xml" Id="Rdd08a4e1903348d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eb0d32d63914d9d" /><Relationship Type="http://schemas.openxmlformats.org/officeDocument/2006/relationships/notesMaster" Target="/ppt/notesMasters/notesMaster1.xml" Id="R552a015f0ae1422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1f58c7d1ff14e96" /><Relationship Type="http://schemas.openxmlformats.org/officeDocument/2006/relationships/notesMaster" Target="/ppt/notesMasters/notesMaster1.xml" Id="R8e5867c0f2894b1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2f7f9c12a6e4d52" /><Relationship Type="http://schemas.openxmlformats.org/officeDocument/2006/relationships/notesMaster" Target="/ppt/notesMasters/notesMaster1.xml" Id="R0a59675895ed4ef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8b02ab5a04c41d4" /><Relationship Type="http://schemas.openxmlformats.org/officeDocument/2006/relationships/notesMaster" Target="/ppt/notesMasters/notesMaster1.xml" Id="R6d4a137db36a47a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0bb82d171734273" /><Relationship Type="http://schemas.openxmlformats.org/officeDocument/2006/relationships/notesMaster" Target="/ppt/notesMasters/notesMaster1.xml" Id="Rcd357eaf64c442f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SentinelAI repository and Honeywell Campus Connect Hackathon problem statement.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[Sources]</a:t>
            </a:r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- https://github.com/rajpagar10/honeywell-behavioral-anomaly-detection</a:t>
            </a:r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- README.md and submission/REPORT.md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[Sources]</a:t>
            </a:r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- https://github.com/rajpagar10/honeywell-behavioral-anomaly-detection</a:t>
            </a:r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- README.md architecture and detection sections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[Sources]</a:t>
            </a:r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- https://github.com/rajpagar10/honeywell-behavioral-anomaly-detection</a:t>
            </a:r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- submission/results/metrics.json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[Sources]</a:t>
            </a:r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- https://github.com/rajpagar10/honeywell-behavioral-anomaly-detection</a:t>
            </a:r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- 37 passing tests from the verified repository test suite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[Sources]</a:t>
            </a:r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- https://github.com/rajpagar10/honeywell-behavioral-anomaly-detection</a:t>
            </a:r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- Liu, Ting &amp; Zhou, Isolation Forest</a:t>
            </a:r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- Breiman, Random Forests</a:t>
            </a:r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- Official scikit-learn, FastAPI, Streamlit, Plotly and Ollama documentation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4efcda298d4db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6e25d7a0e9452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40ee38b56349c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b1eff272b849e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dce09d734e439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86f99fd9e0428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a332c5d2a4459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a2112bfc174cf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f6af5afd2c487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ab77b4e07f4c3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2a01f3edfa4634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7842EAD-E07C-4C9E-9E93-34E00328846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14400" y="2130428"/>
            <a:ext cx="103632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17E54C60-9C45-4BAB-889F-9D47F9F2E8E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886200"/>
            <a:ext cx="85344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9F689AA-6416-4B18-B982-63C5204FAE0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60792E3-D524-454C-8AFD-A91972900BCB}" type="datetime1">
              <a:t>7/24/2026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6A7DC68-4C00-4B7B-8AE7-6E86D15FB7C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A90A424-64DB-4415-86D0-766DBD133F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5B7E1BAA-A38D-40DE-B22C-DF9BD7D82058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9188CCD-0324-4E27-85F8-FE723707E9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C0BBEF4-72BB-4F11-9C3A-EDD90AEB9E5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8001726-5BAD-4AF0-A8EA-AA7F934EEDD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708B7524-32A2-4C20-A58C-BC3BAA1042FC}" type="datetime1">
              <a:t>7/24/2026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C1A4DDD-0804-4EEB-8BA4-28E77EE456E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8BE25CF-6884-46F3-9CCB-AF9A51C743F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77C3CE7-23F7-4828-823C-E0205DF2CF97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230EF4A-B74E-458F-9C03-E55B0B3658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3084" y="4406903"/>
            <a:ext cx="103632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A681B51-456D-4818-84CA-18E3E7E447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3084" y="2906713"/>
            <a:ext cx="103632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BADD9C2-58FB-464E-9062-2E68AD362E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1E994447-D6B2-43BB-A877-57F1A267B999}" type="datetime1">
              <a:t>7/24/2026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F0A0A8C-F44E-4F26-9283-5F331407867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E3E504F-D70F-4AC9-AFD4-758FD6B3B0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41DB31D2-2A87-4F4C-A9AD-05C6CC2B321D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FFBB0C6-C564-4CBC-8B06-E7D3BA9CA8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B8024AF-CBFE-48CE-829E-02C6FDFFBE2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9600" y="1600203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B93F4318-68A5-434A-8D22-A4000BC7C90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97600" y="1600203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E289B44-772B-43C2-A785-6D185D03E07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8920E16-BD35-483C-AA6B-346FC7E46DEA}" type="datetime1">
              <a:t>7/24/2026</a:t>
            </a:fld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9E3E47C-4ADE-44D3-AF76-880333C872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47A60EB-AC61-4B57-8EE4-1D35BEB478C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1FC16D9-1635-4844-816A-0A8A2160FADA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B740BCA-DAFD-4BF8-AB8B-26E5C0AD65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3D40EE1-309A-4BD0-AAB1-56D40907B6F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535113"/>
            <a:ext cx="5386917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901773E8-4755-44F5-85A2-B66F60BA466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09600" y="2174875"/>
            <a:ext cx="5386917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E97AF9F8-6681-4E80-8BBE-CE205822C9F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93369" y="1535113"/>
            <a:ext cx="5389033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918FEE1E-7F69-4B19-912F-41003813AA15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93369" y="2174875"/>
            <a:ext cx="5389033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4658733-043C-450F-825C-C3A95BBE1DA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FEAC6F8-5103-4FC0-A69E-5C6AE6469DA8}" type="datetime1">
              <a:t>7/24/2026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514CE0C-6889-4BB8-9FAC-1EDE55A3D9C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98D33-032E-4AE8-A9FB-D2799EC5B79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71C4100A-98DE-4944-910A-A93F5CA9F724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B9FD6E0-E561-4A46-A7BC-FF3941C2ED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A1F911C-8B64-41BF-8C22-C76448E504B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C60C6921-0627-4C8F-83D5-0CF936D2FFDD}" type="datetime1">
              <a:t>7/24/2026</a:t>
            </a:fld>
          </a:p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82FBA9D-0D96-4DB3-A984-448EAE43EA2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2ABC0F7-7ABD-45F0-A3C9-4D9A408687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A63342B-5A73-45DC-864D-086DE78037EF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095A7CB-B627-4F79-8C49-FF88BD06FB8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FF08AD7-8103-40F8-983C-E2BA6BB9CBE0}" type="datetime1">
              <a:t>7/24/2026</a:t>
            </a:fld>
          </a:p>
        </p:txBody>
      </p:sp>
      <p:sp>
        <p:nvSpPr>
          <p:cNvPr id="3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3FFAB86-DD03-42F8-88C6-81ACA3AF703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4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B78D94B-EBF0-4106-89BD-284AB8274C6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B635AFB3-1ACD-44AC-8702-86B1729DF035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F9A08CD-DED3-4B5D-879D-36323E9771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2" y="273050"/>
            <a:ext cx="4011084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4FF158E-225C-446A-A94D-0EA340F5FE8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6733" y="273053"/>
            <a:ext cx="6815667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F2C202D5-9CEE-46B7-B104-9CC697D51D6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2" y="1435103"/>
            <a:ext cx="4011084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8C114E4-DB9F-4C1C-BF14-1BB235FF145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DF8C06B4-9380-4A4D-AF49-A3596E17DAF5}" type="datetime1">
              <a:t>7/24/2026</a:t>
            </a:fld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81D3C08-3A66-4D93-B60B-ACDA39CE3D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FD5A193-B3D2-4798-BBB0-2A7788B1EA8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05CF15F3-5E77-4C57-9E21-50D6D1D6C022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F299CAD-CDEB-411F-BD0A-200A2AF365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9717" y="4800600"/>
            <a:ext cx="73152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5E8C95AE-A1AB-4198-93EB-ECEF45DD9D03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2389717" y="612775"/>
            <a:ext cx="7315200" cy="41148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5EE6BC5E-2A71-4E33-BC57-7D182BE8A5E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389717" y="5367338"/>
            <a:ext cx="73152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53EE775-2CA4-4E42-B7C5-2647D9D393E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F7FDEF1-C582-4E22-9E77-D68326471F28}" type="datetime1">
              <a:t>7/24/2026</a:t>
            </a:fld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A99704A-FF41-46A0-9BB8-A425B4FBA1E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8EA1BBF-3B82-4A69-85BE-7EE98813E33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1242169A-B3C7-4FB6-967F-AF95F4EB3315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7B5C584-5FC3-4BFF-9C62-085180B9AD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8ED7942A-36CF-4FB7-8B56-3C38962957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5C9B368-5E28-4B11-A870-18730AD64C5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053C3A68-6922-42D3-8905-ECC2D82A3469}" type="datetime1">
              <a:t>7/24/2026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69FCA08-67B3-49E2-92E0-6387CAA95E7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BCE6CD4-7993-4384-859D-3347C3CBA9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94FDD027-5576-4F27-AAB6-1D994836EE78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F77AEC3F-9F03-43C2-84FD-5D10C32A55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39200" y="274641"/>
            <a:ext cx="27432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AD2E853-AFEF-4546-9B07-71D2821FABB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74641"/>
            <a:ext cx="8026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35FD04F-B0DA-4E41-8C46-72B977D680C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CB69E9F4-7604-4950-A8B2-8ACDEDB1506E}" type="datetime1">
              <a:t>7/24/2026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47DFB2A-429D-4C34-B345-EC1CA3A709F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46E0BBF-DDC0-4771-A7CF-15578E1426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957CE61-8714-431B-A40A-01B1C5541AB7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9f80ba0c9db474d" /><Relationship Type="http://schemas.openxmlformats.org/officeDocument/2006/relationships/slideLayout" Target="/ppt/slideLayouts/slideLayout1.xml" Id="Rb2a4102d579b423d" /><Relationship Type="http://schemas.openxmlformats.org/officeDocument/2006/relationships/slideLayout" Target="/ppt/slideLayouts/slideLayout2.xml" Id="Rb2b39e846a044812" /><Relationship Type="http://schemas.openxmlformats.org/officeDocument/2006/relationships/slideLayout" Target="/ppt/slideLayouts/slideLayout3.xml" Id="Rea0b0dfa4a2a40df" /><Relationship Type="http://schemas.openxmlformats.org/officeDocument/2006/relationships/slideLayout" Target="/ppt/slideLayouts/slideLayout4.xml" Id="Rac486e351e254c8a" /><Relationship Type="http://schemas.openxmlformats.org/officeDocument/2006/relationships/slideLayout" Target="/ppt/slideLayouts/slideLayout5.xml" Id="R01da2637deb743c3" /><Relationship Type="http://schemas.openxmlformats.org/officeDocument/2006/relationships/slideLayout" Target="/ppt/slideLayouts/slideLayout6.xml" Id="R9cef9eb84b204d04" /><Relationship Type="http://schemas.openxmlformats.org/officeDocument/2006/relationships/slideLayout" Target="/ppt/slideLayouts/slideLayout7.xml" Id="Rb9db0ed5e6a9480a" /><Relationship Type="http://schemas.openxmlformats.org/officeDocument/2006/relationships/slideLayout" Target="/ppt/slideLayouts/slideLayout8.xml" Id="R3df1f82994d940a2" /><Relationship Type="http://schemas.openxmlformats.org/officeDocument/2006/relationships/slideLayout" Target="/ppt/slideLayouts/slideLayout9.xml" Id="R6e8cbb47ede64b2a" /><Relationship Type="http://schemas.openxmlformats.org/officeDocument/2006/relationships/slideLayout" Target="/ppt/slideLayouts/slideLayout10.xml" Id="R150badab79404730" /><Relationship Type="http://schemas.openxmlformats.org/officeDocument/2006/relationships/slideLayout" Target="/ppt/slideLayouts/slideLayout11.xml" Id="Rbc0e4235622648b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6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A66DC16F-A1C1-4C50-9B0F-E27EBB0822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-476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title style</a:t>
            </a:r>
          </a:p>
        </p:txBody>
      </p:sp>
      <p:sp>
        <p:nvSpPr>
          <p:cNvPr id="1027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10A8AD6-10F1-4072-994B-A4C9AF94AE7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095375"/>
            <a:ext cx="10972800" cy="5030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7560DF0-D584-49A4-A184-44AFC7E3151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09600" y="6356353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fld id="{780A9602-A9A9-453F-AEF1-37B5837E02CD}" type="datetime1">
              <a:t>7/24/2026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152B573-4803-4020-9E4C-E50D2A568AA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65600" y="6356353"/>
            <a:ext cx="3860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913EE4-1A78-4112-9A82-E378E2C9A63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37600" y="6356353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fld id="{1411BA53-830D-4830-BB65-E58DBE17D0B7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2a4102d579b423d"/>
    <p:sldLayoutId xmlns:r="http://schemas.openxmlformats.org/officeDocument/2006/relationships" id="2147483650" r:id="Rb2b39e846a044812"/>
    <p:sldLayoutId xmlns:r="http://schemas.openxmlformats.org/officeDocument/2006/relationships" id="2147483651" r:id="Rea0b0dfa4a2a40df"/>
    <p:sldLayoutId xmlns:r="http://schemas.openxmlformats.org/officeDocument/2006/relationships" id="2147483652" r:id="Rac486e351e254c8a"/>
    <p:sldLayoutId xmlns:r="http://schemas.openxmlformats.org/officeDocument/2006/relationships" id="2147483653" r:id="R01da2637deb743c3"/>
    <p:sldLayoutId xmlns:r="http://schemas.openxmlformats.org/officeDocument/2006/relationships" id="2147483654" r:id="R9cef9eb84b204d04"/>
    <p:sldLayoutId xmlns:r="http://schemas.openxmlformats.org/officeDocument/2006/relationships" id="2147483655" r:id="Rb9db0ed5e6a9480a"/>
    <p:sldLayoutId xmlns:r="http://schemas.openxmlformats.org/officeDocument/2006/relationships" id="2147483656" r:id="R3df1f82994d940a2"/>
    <p:sldLayoutId xmlns:r="http://schemas.openxmlformats.org/officeDocument/2006/relationships" id="2147483657" r:id="R6e8cbb47ede64b2a"/>
    <p:sldLayoutId xmlns:r="http://schemas.openxmlformats.org/officeDocument/2006/relationships" id="2147483658" r:id="R150badab79404730"/>
    <p:sldLayoutId xmlns:r="http://schemas.openxmlformats.org/officeDocument/2006/relationships" id="2147483659" r:id="Rbc0e4235622648b8"/>
  </p:sldLayoutIdLst>
  <p:hf hdr="0" dt="0"/>
  <p:txStyles>
    <p:titleStyle>
      <a:lvl1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2pPr>
      <a:lvl3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3pPr>
      <a:lvl4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4pPr>
      <a:lvl5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5pPr>
      <a:lvl6pPr xmlns:a="http://schemas.openxmlformats.org/drawingml/2006/main" marL="4572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6pPr>
      <a:lvl7pPr xmlns:a="http://schemas.openxmlformats.org/drawingml/2006/main" marL="9144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7pPr>
      <a:lvl8pPr xmlns:a="http://schemas.openxmlformats.org/drawingml/2006/main" marL="13716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8pPr>
      <a:lvl9pPr xmlns:a="http://schemas.openxmlformats.org/drawingml/2006/main" marL="18288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9pPr>
    </p:titleStyle>
    <p:bodyStyle>
      <a:lvl1pPr xmlns:a="http://schemas.openxmlformats.org/drawingml/2006/main" marL="342900" indent="-342900" algn="l" defTabSz="457200">
        <a:spcBef>
          <a:spcPct val="20000"/>
        </a:spcBef>
        <a:spcAft>
          <a:spcPct val="0"/>
        </a:spcAft>
        <a:buFont typeface="Arial"/>
        <a:buChar char="•"/>
        <a:defRPr sz="32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xmlns:a="http://schemas.openxmlformats.org/drawingml/2006/main" marL="742950" indent="-285750" algn="l" defTabSz="457200">
        <a:spcBef>
          <a:spcPct val="20000"/>
        </a:spcBef>
        <a:spcAft>
          <a:spcPct val="0"/>
        </a:spcAft>
        <a:buFont typeface="Arial"/>
        <a:buChar char="–"/>
        <a:defRPr sz="2800" kern="1200">
          <a:solidFill>
            <a:schemeClr val="tx1"/>
          </a:solidFill>
          <a:latin typeface="TradeGothic"/>
          <a:ea typeface="TradeGothic"/>
          <a:cs typeface="TradeGothic"/>
        </a:defRPr>
      </a:lvl2pPr>
      <a:lvl3pPr xmlns:a="http://schemas.openxmlformats.org/drawingml/2006/main" marL="1143000" indent="-228600" algn="l" defTabSz="457200">
        <a:spcBef>
          <a:spcPct val="20000"/>
        </a:spcBef>
        <a:spcAft>
          <a:spcPct val="0"/>
        </a:spcAft>
        <a:buFont typeface="Arial"/>
        <a:buChar char="•"/>
        <a:defRPr sz="2400" kern="1200">
          <a:solidFill>
            <a:schemeClr val="tx1"/>
          </a:solidFill>
          <a:latin typeface="TradeGothic"/>
          <a:ea typeface="TradeGothic"/>
          <a:cs typeface="TradeGothic"/>
        </a:defRPr>
      </a:lvl3pPr>
      <a:lvl4pPr xmlns:a="http://schemas.openxmlformats.org/drawingml/2006/main" marL="1600200" indent="-228600" algn="l" defTabSz="457200">
        <a:spcBef>
          <a:spcPct val="20000"/>
        </a:spcBef>
        <a:spcAft>
          <a:spcPct val="0"/>
        </a:spcAft>
        <a:buFont typeface="Arial"/>
        <a:buChar char="–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4pPr>
      <a:lvl5pPr xmlns:a="http://schemas.openxmlformats.org/drawingml/2006/main" marL="2057400" indent="-228600" algn="l" defTabSz="457200">
        <a:spcBef>
          <a:spcPct val="20000"/>
        </a:spcBef>
        <a:spcAft>
          <a:spcPct val="0"/>
        </a:spcAft>
        <a:buFont typeface="Arial"/>
        <a:buChar char="»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26533de7dc54e31" /><Relationship Type="http://schemas.openxmlformats.org/officeDocument/2006/relationships/notesSlide" Target="/ppt/notesSlides/notesSlide1.xml" Id="Rcb9f5f8093a7414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a8206d87ad4371" /><Relationship Type="http://schemas.openxmlformats.org/officeDocument/2006/relationships/notesSlide" Target="/ppt/notesSlides/notesSlide2.xml" Id="R8226ae1ff128474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17a452ce5b4974" /><Relationship Type="http://schemas.openxmlformats.org/officeDocument/2006/relationships/notesSlide" Target="/ppt/notesSlides/notesSlide3.xml" Id="R7ff2615c1efd45d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f68018669d34228" /><Relationship Type="http://schemas.openxmlformats.org/officeDocument/2006/relationships/notesSlide" Target="/ppt/notesSlides/notesSlide4.xml" Id="R137ca0c46df4426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022696a2e9f492b" /><Relationship Type="http://schemas.openxmlformats.org/officeDocument/2006/relationships/notesSlide" Target="/ppt/notesSlides/notesSlide5.xml" Id="Ra556a2f2a1eb4af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e26656f6673450b" /><Relationship Type="http://schemas.openxmlformats.org/officeDocument/2006/relationships/notesSlide" Target="/ppt/notesSlides/notesSlide6.xml" Id="Re4d34171bee34c9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C2A033A5-F70E-7E73-0B8C-FA62C08DEB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SentinelAI | GitHub repository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C99EC04-BCF1-5A69-7D5A-95D43C9763A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D75FED6-38D0-DE9C-92C0-6E7FA635581C}" type="slidenum">
              <a:t>1</a:t>
            </a:fld>
          </a:p>
        </p:txBody>
      </p:sp>
      <p:sp>
        <p:nvSpPr>
          <p:cNvPr id="6" name="Subtitle 3">
            <a:extLst xmlns:a="http://schemas.openxmlformats.org/drawingml/2006/main">
              <a:ext uri="{FF2B5EF4-FFF2-40B4-BE49-F238E27FC236}">
                <a16:creationId xmlns:a16="http://schemas.microsoft.com/office/drawing/2014/main" id="{E0A8E5C6-6BFC-01E5-DDF5-B6A7738A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369" y="-365784"/>
            <a:ext cx="85344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>
            <a:lvl1pPr marL="0" indent="0" algn="ctr" defTabSz="457200">
              <a:spcBef>
                <a:spcPct val="20000"/>
              </a:spcBef>
              <a:spcAft>
                <a:spcPct val="0"/>
              </a:spcAft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1pPr>
            <a:lvl2pPr marL="457200" indent="0" algn="ctr" defTabSz="457200">
              <a:spcBef>
                <a:spcPct val="20000"/>
              </a:spcBef>
              <a:spcAft>
                <a:spcPct val="0"/>
              </a:spcAft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2pPr>
            <a:lvl3pPr marL="914400" indent="0" algn="ctr" defTabSz="457200">
              <a:spcBef>
                <a:spcPct val="20000"/>
              </a:spcBef>
              <a:spcAft>
                <a:spcPct val="0"/>
              </a:spcAft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3pPr>
            <a:lvl4pPr marL="1371600" indent="0" algn="ctr" defTabSz="457200">
              <a:spcBef>
                <a:spcPct val="20000"/>
              </a:spcBef>
              <a:spcAft>
                <a:spcPct val="0"/>
              </a:spcAft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4pPr>
            <a:lvl5pPr marL="1828800" indent="0" algn="ctr" defTabSz="457200">
              <a:spcBef>
                <a:spcPct val="20000"/>
              </a:spcBef>
              <a:spcAft>
                <a:spcPct val="0"/>
              </a:spcAft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5pPr>
            <a:lvl6pPr marL="2286000" indent="0" algn="ctr" defTabSz="457200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457200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457200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457200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t/>
            </a:r>
          </a:p>
          <a:p xmlns:a="http://schemas.openxmlformats.org/drawingml/2006/main">
            <a:r>
              <a:rPr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SENTINELAI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FB1BDE7-2DA0-F526-CF6E-F50D43C2C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274" y="1203454"/>
            <a:ext cx="5924550" cy="548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Problem Statement ID - [ENTER ID]</a:t>
            </a:r>
          </a:p>
          <a:p xmlns:a="http://schemas.openxmlformats.org/drawingml/2006/main"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Problem Statement Title - Behavioral Anomaly Detection</a:t>
            </a:r>
          </a:p>
          <a:p xmlns:a="http://schemas.openxmlformats.org/drawingml/2006/main"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Theme - Cybersecurity</a:t>
            </a:r>
          </a:p>
          <a:p xmlns:a="http://schemas.openxmlformats.org/drawingml/2006/main"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PS Category - Software</a:t>
            </a:r>
          </a:p>
          <a:p xmlns:a="http://schemas.openxmlformats.org/drawingml/2006/main"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Student Name - [ENTER NAME]</a:t>
            </a:r>
          </a:p>
          <a:p xmlns:a="http://schemas.openxmlformats.org/drawingml/2006/main"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Student ID - [ENTER ID]</a:t>
            </a:r>
          </a:p>
        </p:txBody>
      </p:sp>
    </p:spTree>
    <p:extLst>
      <p:ext uri="{BB962C8B-B14F-4D97-AF65-F5344CB8AC3E}">
        <p14:creationId xmlns:p14="http://schemas.microsoft.com/office/powerpoint/2010/main" val="331988478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361" name="Title 1">
            <a:extLst xmlns:a="http://schemas.openxmlformats.org/drawingml/2006/main">
              <a:ext uri="{FF2B5EF4-FFF2-40B4-BE49-F238E27FC236}">
                <a16:creationId xmlns:a16="http://schemas.microsoft.com/office/drawing/2014/main" id="{6BFFF274-C546-43AA-885F-CB17AFE5BE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998" y="0"/>
            <a:ext cx="10972800" cy="1143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SENTINELAI</a:t>
            </a:r>
          </a:p>
        </p:txBody>
      </p:sp>
      <p:sp>
        <p:nvSpPr>
          <p:cNvPr id="15362" name="TextBox 8">
            <a:extLst xmlns:a="http://schemas.openxmlformats.org/drawingml/2006/main">
              <a:ext uri="{FF2B5EF4-FFF2-40B4-BE49-F238E27FC236}">
                <a16:creationId xmlns:a16="http://schemas.microsoft.com/office/drawing/2014/main" id="{EFCFD58D-A594-46BB-8292-CB4372CE0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2064921"/>
            <a:ext cx="12191999" cy="2492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200" b="1" u="sng">
                <a:latin typeface="Arial"/>
                <a:ea typeface="Arial"/>
                <a:cs typeface="Arial"/>
              </a:rPr>
              <a:t>PROPOSED SOLUTION</a:t>
            </a:r>
          </a:p>
          <a:p xmlns:a="http://schemas.openxmlformats.org/drawingml/2006/main">
            <a:pPr marL="342900" indent="-342900">
              <a:buFont typeface="Arial"/>
              <a:buChar char="•"/>
            </a:pPr>
            <a:r>
              <a:t>Learns normal behavior for users, service accounts, IoT and edge devices</a:t>
            </a:r>
          </a:p>
          <a:p xmlns:a="http://schemas.openxmlformats.org/drawingml/2006/main">
            <a:pPr marL="342900" indent="-342900">
              <a:buFont typeface="Arial"/>
              <a:buChar char="•"/>
            </a:pPr>
            <a:r>
              <a:t>Combines anomaly ML, deterministic attack rules and classification</a:t>
            </a:r>
          </a:p>
          <a:p xmlns:a="http://schemas.openxmlformats.org/drawingml/2006/main">
            <a:pPr marL="342900" indent="-342900">
              <a:buFont typeface="Arial"/>
              <a:buChar char="•"/>
            </a:pPr>
            <a:r>
              <a:rPr sz="2800">
                <a:latin typeface="Arial"/>
                <a:ea typeface="Arial"/>
                <a:cs typeface="Arial"/>
              </a:rPr>
              <a:t>Produces explainable 0-100 risk-ranked SOC alerts</a:t>
            </a:r>
          </a:p>
          <a:p xmlns:a="http://schemas.openxmlformats.org/drawingml/2006/main">
            <a:pPr marL="342900" indent="-342900">
              <a:buFont typeface="Arial"/>
              <a:buChar char="•"/>
            </a:pPr>
            <a:r>
              <a:rPr sz="2800">
                <a:latin typeface="Arial"/>
                <a:ea typeface="Arial"/>
                <a:cs typeface="Arial"/>
              </a:rPr>
              <a:t>Adapts with peer baselines, trusted drift updates and grounded AI assistance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552C96-5AD9-4E33-A398-FAB40919C2F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rPr b="1">
                <a:solidFill>
                  <a:schemeClr val="bg1"/>
                </a:solidFill>
              </a:rPr>
              <a:t>2</a:t>
            </a:fld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49D39EF1-FD55-489F-AE4E-983A49F83FB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>
                <a:solidFill>
                  <a:schemeClr val="bg1"/>
                </a:solidFill>
              </a:rPr>
              <a:t>SentinelAI | GitHub repository</a:t>
            </a:r>
          </a:p>
        </p:txBody>
      </p:sp>
    </p:spTree>
    <p:extLst>
      <p:ext uri="{BB962C8B-B14F-4D97-AF65-F5344CB8AC3E}">
        <p14:creationId xmlns:p14="http://schemas.microsoft.com/office/powerpoint/2010/main" val="94051655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1A3EF795-AC61-4B57-B0B8-D7EF7F9102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0"/>
            <a:ext cx="10972800" cy="1143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TECHNICAL APPROACH</a:t>
            </a:r>
          </a:p>
        </p:txBody>
      </p:sp>
      <p:sp>
        <p:nvSpPr>
          <p:cNvPr id="17410" name="TextBox 8">
            <a:extLst xmlns:a="http://schemas.openxmlformats.org/drawingml/2006/main">
              <a:ext uri="{FF2B5EF4-FFF2-40B4-BE49-F238E27FC236}">
                <a16:creationId xmlns:a16="http://schemas.microsoft.com/office/drawing/2014/main" id="{7017A01A-C5C2-4459-96D5-CB339C30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3"/>
            <a:ext cx="9385300" cy="3078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buFont typeface="Arial"/>
              <a:buChar char="•"/>
            </a:pPr>
            <a:r>
              <a:rPr sz="2800">
                <a:latin typeface="Arial"/>
                <a:ea typeface="Arial"/>
                <a:cs typeface="Arial"/>
              </a:rPr>
              <a:t>Flow: events -&gt; profiles -&gt; sequential features -&gt; detection -&gt; risk -&gt; API -&gt; dashboard</a:t>
            </a:r>
          </a:p>
          <a:p xmlns:a="http://schemas.openxmlformats.org/drawingml/2006/main">
            <a:pPr marL="342900" indent="-342900">
              <a:buFont typeface="Arial"/>
              <a:buChar char="•"/>
            </a:pPr>
            <a:r>
              <a:rPr sz="2800">
                <a:latin typeface="Arial"/>
                <a:ea typeface="Arial"/>
                <a:cs typeface="Arial"/>
              </a:rPr>
              <a:t>Models: Isolation Forest + deterministic rules + class-weighted Random Forest</a:t>
            </a:r>
          </a:p>
          <a:p xmlns:a="http://schemas.openxmlformats.org/drawingml/2006/main">
            <a:pPr marL="342900" indent="-342900">
              <a:buFont typeface="Arial"/>
              <a:buChar char="•"/>
            </a:pPr>
            <a:r>
              <a:rPr sz="2800">
                <a:latin typeface="Arial"/>
                <a:ea typeface="Arial"/>
                <a:cs typeface="Arial"/>
              </a:rPr>
              <a:t>Stack: Python, FastAPI, SQLite, Streamlit, Plotly, Docker and Ollama</a:t>
            </a:r>
          </a:p>
          <a:p xmlns:a="http://schemas.openxmlformats.org/drawingml/2006/main">
            <a:pPr marL="342900" indent="-342900">
              <a:buFont typeface="Arial"/>
              <a:buChar char="•"/>
            </a:pPr>
            <a:r>
              <a:rPr sz="2800">
                <a:latin typeface="Arial"/>
                <a:ea typeface="Arial"/>
                <a:cs typeface="Arial"/>
              </a:rPr>
              <a:t>Ground truth remains isolated from online inference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3CE4520-0A4D-4DA5-8C67-C81BDDC2360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rPr b="1">
                <a:solidFill>
                  <a:schemeClr val="bg1"/>
                </a:solidFill>
              </a:rPr>
              <a:t>3</a:t>
            </a:fld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55C7D22C-7B85-4071-8D94-3FFEDB14A20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>
                <a:solidFill>
                  <a:schemeClr val="bg1"/>
                </a:solidFill>
              </a:rPr>
              <a:t>SentinelAI | GitHub repository</a:t>
            </a:r>
          </a:p>
        </p:txBody>
      </p:sp>
    </p:spTree>
    <p:extLst>
      <p:ext uri="{BB962C8B-B14F-4D97-AF65-F5344CB8AC3E}">
        <p14:creationId xmlns:p14="http://schemas.microsoft.com/office/powerpoint/2010/main" val="134814082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FECE78CB-E623-429F-94F7-6CBF703259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0"/>
            <a:ext cx="10972800" cy="1143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FEASIBILITY AND VIABILITY</a:t>
            </a:r>
          </a:p>
        </p:txBody>
      </p:sp>
      <p:sp>
        <p:nvSpPr>
          <p:cNvPr id="17410" name="TextBox 8">
            <a:extLst xmlns:a="http://schemas.openxmlformats.org/drawingml/2006/main">
              <a:ext uri="{FF2B5EF4-FFF2-40B4-BE49-F238E27FC236}">
                <a16:creationId xmlns:a16="http://schemas.microsoft.com/office/drawing/2014/main" id="{4103F620-46E8-487D-AA34-5C02A20CA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3"/>
            <a:ext cx="9385300" cy="2651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marR="0" lvl="0" indent="-342900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800">
                <a:solidFill>
                  <a:prstClr val="black"/>
                </a:solidFill>
                <a:latin typeface="Arial"/>
                <a:ea typeface="Arial"/>
                <a:cs typeface="Arial"/>
              </a:rPr>
              <a:t>Working one-command near-real-time demo with 2,000 replayed events</a:t>
            </a:r>
          </a:p>
          <a:p xmlns:a="http://schemas.openxmlformats.org/drawingml/2006/main">
            <a:pPr marL="342900" marR="0" lvl="0" indent="-342900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800">
                <a:solidFill>
                  <a:prstClr val="black"/>
                </a:solidFill>
                <a:latin typeface="Arial"/>
                <a:ea typeface="Arial"/>
                <a:cs typeface="Arial"/>
              </a:rPr>
              <a:t>94.62% precision | 97.78% recall | 96.17% F1 | 0.17% false-positive rate</a:t>
            </a:r>
          </a:p>
          <a:p xmlns:a="http://schemas.openxmlformats.org/drawingml/2006/main">
            <a:pPr marL="342900" marR="0" lvl="0" indent="-342900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800" b="0" i="0" u="none" cap="none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>Peer cold-start baselines and trusted decay reduce false positives and baseline poisoning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E619FB0-5849-4E75-92CA-4138C1394AE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EFD6AB9A-5F9E-5F59-51AB-3C8734130965}" type="slidenum">
              <a:rPr sz="1200" b="1" i="0" u="none" cap="none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4</a:t>
            </a:fld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FEC7E6ED-7E3D-42EA-8FAA-39F2710AAB7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SentinelAI | GitHub repository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5E03BF1A-7989-5C44-934B-D93E149184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0"/>
            <a:ext cx="10972800" cy="1143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ARTIFACTS</a:t>
            </a:r>
          </a:p>
        </p:txBody>
      </p:sp>
      <p:sp>
        <p:nvSpPr>
          <p:cNvPr id="17410" name="TextBox 8">
            <a:extLst xmlns:a="http://schemas.openxmlformats.org/drawingml/2006/main">
              <a:ext uri="{FF2B5EF4-FFF2-40B4-BE49-F238E27FC236}">
                <a16:creationId xmlns:a16="http://schemas.microsoft.com/office/drawing/2014/main" id="{DD0C6F84-D6ED-416D-7179-055149D83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3"/>
            <a:ext cx="9385300" cy="3779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marR="0" lvl="0" indent="-342900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800">
                <a:solidFill>
                  <a:prstClr val="black"/>
                </a:solidFill>
                <a:latin typeface="Arial"/>
                <a:ea typeface="Arial"/>
                <a:cs typeface="Arial"/>
              </a:rPr>
              <a:t>Professional SOC dashboard with live replay and ranked alert queue</a:t>
            </a:r>
          </a:p>
          <a:p xmlns:a="http://schemas.openxmlformats.org/drawingml/2006/main">
            <a:pPr marL="800100" lvl="1" indent="-342900">
              <a:buFont typeface="Arial"/>
              <a:buChar char="•"/>
            </a:pPr>
            <a:r>
              <a:rPr sz="2800">
                <a:solidFill>
                  <a:prstClr val="black"/>
                </a:solidFill>
                <a:latin typeface="Arial"/>
                <a:ea typeface="Arial"/>
                <a:cs typeface="Arial"/>
              </a:rPr>
              <a:t>Evidence-backed alert detail, risk factors and analyst actions</a:t>
            </a:r>
          </a:p>
          <a:p xmlns:a="http://schemas.openxmlformats.org/drawingml/2006/main">
            <a:pPr marL="800100" lvl="1" indent="-342900">
              <a:buFont typeface="Arial"/>
              <a:buChar char="•"/>
            </a:pPr>
            <a:r>
              <a:rPr sz="2800" b="0" i="0" u="none" cap="none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>Grounded AI Copilot with deterministic fallback and stored feedback</a:t>
            </a:r>
          </a:p>
          <a:p xmlns:a="http://schemas.openxmlformats.org/drawingml/2006/main">
            <a:pPr marL="800100" lvl="1" indent="-342900">
              <a:buFont typeface="Arial"/>
              <a:buChar char="•"/>
            </a:pPr>
            <a:r>
              <a:rPr sz="2800">
                <a:solidFill>
                  <a:prstClr val="black"/>
                </a:solidFill>
                <a:latin typeface="Arial"/>
                <a:ea typeface="Arial"/>
                <a:cs typeface="Arial"/>
              </a:rPr>
              <a:t>FastAPI, Docker, startup scripts, saved models and evaluation artifacts</a:t>
            </a:r>
          </a:p>
          <a:p xmlns:a="http://schemas.openxmlformats.org/drawingml/2006/main">
            <a:pPr marL="342900" marR="0" lvl="0" indent="-342900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t>Code + setup: github.com/rajpagar10/honeywell-behavioral-anomaly-detection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4B14AAA-63FC-5F17-FE74-5405495A1C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EE5B3003-2C54-13C6-9832-7637201064DE}" type="slidenum">
              <a:rPr sz="1200" b="1" i="0" u="none" cap="none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5</a:t>
            </a:fld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34C6332B-BBD9-799D-50C5-6A19BC85E43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SentinelAI | GitHub repository</a:t>
            </a:r>
          </a:p>
        </p:txBody>
      </p:sp>
    </p:spTree>
    <p:extLst>
      <p:ext uri="{BB962C8B-B14F-4D97-AF65-F5344CB8AC3E}">
        <p14:creationId xmlns:p14="http://schemas.microsoft.com/office/powerpoint/2010/main" val="97344788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163A2410-B187-4231-BEB6-8588984EE2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0"/>
            <a:ext cx="10972800" cy="1143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RESEARCH AND REFERENCES</a:t>
            </a:r>
          </a:p>
        </p:txBody>
      </p:sp>
      <p:sp>
        <p:nvSpPr>
          <p:cNvPr id="17410" name="TextBox 8">
            <a:extLst xmlns:a="http://schemas.openxmlformats.org/drawingml/2006/main">
              <a:ext uri="{FF2B5EF4-FFF2-40B4-BE49-F238E27FC236}">
                <a16:creationId xmlns:a16="http://schemas.microsoft.com/office/drawing/2014/main" id="{429CFA05-A1D3-4AF8-AE74-C992A2EF8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5263"/>
            <a:ext cx="9385300" cy="3931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marR="0" lvl="0" indent="-342900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800">
                <a:solidFill>
                  <a:prstClr val="black"/>
                </a:solidFill>
                <a:latin typeface="Arial"/>
                <a:ea typeface="Arial"/>
                <a:cs typeface="Arial"/>
              </a:rPr>
              <a:t>Liu, Ting &amp; Zhou - Isolation Forest | Breiman - Random Forests</a:t>
            </a:r>
          </a:p>
          <a:p xmlns:a="http://schemas.openxmlformats.org/drawingml/2006/main">
            <a:pPr marL="342900" marR="0" lvl="0" indent="-342900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800">
                <a:solidFill>
                  <a:prstClr val="black"/>
                </a:solidFill>
                <a:latin typeface="Arial"/>
                <a:ea typeface="Arial"/>
                <a:cs typeface="Arial"/>
              </a:rPr>
              <a:t>scikit-learn, FastAPI, Streamlit, Plotly and Ollama documentation</a:t>
            </a:r>
          </a:p>
          <a:p xmlns:a="http://schemas.openxmlformats.org/drawingml/2006/main">
            <a:pPr marL="342900" marR="0" lvl="0" indent="-342900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800">
                <a:solidFill>
                  <a:prstClr val="black"/>
                </a:solidFill>
                <a:latin typeface="Arial"/>
                <a:ea typeface="Arial"/>
                <a:cs typeface="Arial"/>
              </a:rPr>
              <a:t>Metrics and implementation evidence: SentinelAI repository</a:t>
            </a:r>
          </a:p>
          <a:p xmlns:a="http://schemas.openxmlformats.org/drawingml/2006/main">
            <a:pPr marL="342900" marR="0" lvl="0" indent="-342900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800">
                <a:solidFill>
                  <a:prstClr val="black"/>
                </a:solidFill>
                <a:latin typeface="Arial"/>
                <a:ea typeface="Arial"/>
                <a:cs typeface="Arial"/>
              </a:rPr>
              <a:t>github.com/rajpagar10/honeywell-behavioral-anomaly-detection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5531299-EC86-40D7-9485-3916940EFF2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8C630A04-5A25-9E0C-9436-126091DB86B3}" type="slidenum">
              <a:rPr sz="1200" b="1" i="0" u="none" cap="none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6</a:t>
            </a:fld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9B26632B-21CC-434D-9E5F-AF983026383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SentinelAI | GitHub repository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2026-07-26T12:40:47.8920000Z</dcterms:created>
  <dcterms:modified xsi:type="dcterms:W3CDTF">2026-07-26T12:40:47.8920000Z</dcterms:modified>
</coreProperties>
</file>